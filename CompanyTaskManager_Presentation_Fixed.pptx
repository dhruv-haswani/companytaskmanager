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2" y="-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2324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COMPANYTASKMANAGER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Enterprise Task Orchestration &amp; Team Collaboration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41148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894400"/>
            <a:ext cx="8229600" cy="286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Dhruv Haswani
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D15B | B.Tech – Information Technology
Department of Information Technology
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Vivekanand Education Society's Institute of Technology (VESIT)
</a:t>
            </a: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Guide: </a:t>
            </a: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Pooja Prajapati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</a:rPr>
              <a:t>01 | PROBLEM &amp;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Addressing Team Friction &amp; Synchronization Lags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5840" y="1920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</a:rPr>
              <a:t>THE FRICTION TODAY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Isolated Task Boards &amp; Manual Polling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• Outdated Status Updates: </a:t>
            </a:r>
            <a:r>
              <a:rPr lang="en-US" sz="1300" dirty="0">
                <a:solidFill>
                  <a:srgbClr val="94A3B8"/>
                </a:solidFill>
              </a:rPr>
              <a:t>Traditional web apps require browser reloads to view priority updates or completed tasks.
</a:t>
            </a:r>
            <a:r>
              <a:rPr lang="en-US" sz="1300" b="1" dirty="0">
                <a:solidFill>
                  <a:srgbClr val="38BDF8"/>
                </a:solidFill>
              </a:rPr>
              <a:t>• Fragmented Communication: </a:t>
            </a:r>
            <a:r>
              <a:rPr lang="en-US" sz="1300" dirty="0">
                <a:solidFill>
                  <a:srgbClr val="94A3B8"/>
                </a:solidFill>
              </a:rPr>
              <a:t>Teams juggle standalone chat platforms disconnected from the active task workflow.
</a:t>
            </a:r>
            <a:r>
              <a:rPr lang="en-US" sz="1300" b="1" dirty="0">
                <a:solidFill>
                  <a:srgbClr val="38BDF8"/>
                </a:solidFill>
              </a:rPr>
              <a:t>• Lack of Strict Role Security: </a:t>
            </a:r>
            <a:r>
              <a:rPr lang="en-US" sz="1300" dirty="0">
                <a:solidFill>
                  <a:srgbClr val="94A3B8"/>
                </a:solidFill>
              </a:rPr>
              <a:t>Absence of fine-grained RBAC creates security risks in assigning corporate responsibilities.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THE COMPANYTASKMANAGER MODEL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2286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Instant Sync &amp; Unified Team Collaboration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09360" y="283464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• Instant Reactive Sync: </a:t>
            </a:r>
            <a:r>
              <a:rPr lang="en-US" sz="1300" dirty="0">
                <a:solidFill>
                  <a:srgbClr val="94A3B8"/>
                </a:solidFill>
              </a:rPr>
              <a:t>Socket.IO WebSockets broadcast task changes to all connected browser windows synchronously.
</a:t>
            </a:r>
            <a:r>
              <a:rPr lang="en-US" sz="1300" b="1" dirty="0">
                <a:solidFill>
                  <a:srgbClr val="38BDF8"/>
                </a:solidFill>
              </a:rPr>
              <a:t>• Integrated Real-Time Chat: </a:t>
            </a:r>
            <a:r>
              <a:rPr lang="en-US" sz="1300" dirty="0">
                <a:solidFill>
                  <a:srgbClr val="94A3B8"/>
                </a:solidFill>
              </a:rPr>
              <a:t>Persistent multi-user chat room embedded directly inside the productivity portal.
</a:t>
            </a:r>
            <a:r>
              <a:rPr lang="en-US" sz="1300" b="1" dirty="0">
                <a:solidFill>
                  <a:srgbClr val="38BDF8"/>
                </a:solidFill>
              </a:rPr>
              <a:t>• Hardened JWT &amp; RBAC: </a:t>
            </a:r>
            <a:r>
              <a:rPr lang="en-US" sz="1300" dirty="0">
                <a:solidFill>
                  <a:srgbClr val="94A3B8"/>
                </a:solidFill>
              </a:rPr>
              <a:t>Stateless Bearer token authorization strictly separating Admin and Employee permissions.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</a:rPr>
              <a:t>02 | ENGINEERING 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Core Project Objectives &amp; Syllabus Alignment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4937760" cy="2011680"/>
          </a:xfrm>
          <a:prstGeom prst="roundRect">
            <a:avLst>
              <a:gd name="adj" fmla="val 4545"/>
            </a:avLst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1828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FULL CRUD REST API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33172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MERN architecture with modular endpoints for task creation, user filtering, status transitions, and data persistence.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0" y="1645920"/>
            <a:ext cx="4937760" cy="2011680"/>
          </a:xfrm>
          <a:prstGeom prst="roundRect">
            <a:avLst>
              <a:gd name="adj" fmla="val 4545"/>
            </a:avLst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309360" y="1828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3232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JWT AUTH &amp; RBAC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09360" y="233172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bcrypt salted password hashing and stateless JWT bearer token authorization separating Admin and User privileges.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4937760" cy="2011680"/>
          </a:xfrm>
          <a:prstGeom prst="roundRect">
            <a:avLst>
              <a:gd name="adj" fmla="val 4545"/>
            </a:avLst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4114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28800" y="4114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REAL-TIME WEBSOCKETS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461772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Socket.IO event engine enabling instant multi-browser task board synchronization and persistent live team chat.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3931920"/>
            <a:ext cx="4937760" cy="2011680"/>
          </a:xfrm>
          <a:prstGeom prst="roundRect">
            <a:avLst>
              <a:gd name="adj" fmla="val 4545"/>
            </a:avLst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309360" y="4114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32320" y="4114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DOCKER &amp; CI/CD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461772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Multi-stage Docker containerization and automated GitHub Actions pipeline with continuous cloud deployment to Vercel and Render.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</a:rPr>
              <a:t>03 | FULL STACK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Modern, Decoupled MERN Technology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828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FRONTEND SPA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React 19 + Vite 8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Modular functional components, Tailwind CSS v4, Lucide icons, Context API for global state management.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480560" y="1828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BACKEND API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8056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Node.js + Express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25146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Asynchronous REST endpoints, centralized error handling, and unified HTTP server wrapping Socket.IO.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63840" y="164592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046720" y="1828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DATABASE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MongoDB Atlas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46720" y="25146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Cloud replica set document storage accessed via Mongoose ODM for users, tasks, and chat messages.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14400" y="4114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REAL-TIME LAYER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389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Socket.IO WebSockets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8006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Bi-directional event channels delivering instant task synchronization and interactive live chat.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97680" y="393192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480560" y="4114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SECURITY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0560" y="4389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bcryptjs &amp; JWT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480560" y="48006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Salted password encryption (10 rounds), stateless bearer token verification, and RBAC middleware.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63840" y="393192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046720" y="4114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DEVOPS &amp; CLOUD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0" y="4389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Docker &amp; CI/CD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046720" y="48006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Docker Compose multi-container setup, GitHub Actions CI build check, Render (API), and Vercel (Client).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</a:rPr>
              <a:t>04 | SYSTEM TOPOLOGY &amp; COMMUNICATION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End-to-End Dual-Transport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1783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CLIENT TIER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2057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React 19 SPA (Vercel CDN)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18288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Renders responsive UI tabs: Exp 7 Docker, Task Manager, Live Chat. Communicates over HTTPS REST and persistent WSS.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05840" y="2926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TRANSPORT TIER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Dual-Channel Routing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29718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REST handles CRUD &amp; JWT authentication; WebSockets (Socket.IO) handles live chat messages and broadcast triggers.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4069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API GATEWAY TIER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4343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Express Server (Render Cloud)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41148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Extracts Bearer tokens, validates payloads, enforces role access, mounts routes, and manages WebSocket connections.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507492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5212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PERSISTENCE TIER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5486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MongoDB Atlas (Cloud Cluster)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0" y="52578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Stores normalized documents across users, tasks, and chatmessages collections with Mongoose schema validation.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</a:rPr>
              <a:t>05 | DEFENSE IN DEPTH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Security Hardening &amp; Role-Based Access Control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4937760" cy="4389120"/>
          </a:xfrm>
          <a:prstGeom prst="roundRect">
            <a:avLst>
              <a:gd name="adj" fmla="val 2083"/>
            </a:avLst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1920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</a:rPr>
              <a:t>AUTHENTICATION &amp; INTEGRITY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Cryptographic API Protection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• bcrypt Password Hashing: </a:t>
            </a:r>
            <a:r>
              <a:rPr lang="en-US" sz="1300" dirty="0">
                <a:solidFill>
                  <a:srgbClr val="94A3B8"/>
                </a:solidFill>
              </a:rPr>
              <a:t>Passwords salted with 10 rounds before saving in MongoDB. Plaintext credentials never stored.
</a:t>
            </a:r>
            <a:r>
              <a:rPr lang="en-US" sz="1300" b="1" dirty="0">
                <a:solidFill>
                  <a:srgbClr val="38BDF8"/>
                </a:solidFill>
              </a:rPr>
              <a:t>• Stateless JWT Bearer Tokens: </a:t>
            </a:r>
            <a:r>
              <a:rPr lang="en-US" sz="1300" dirty="0">
                <a:solidFill>
                  <a:srgbClr val="94A3B8"/>
                </a:solidFill>
              </a:rPr>
              <a:t>Tokens issued upon login with encrypted userId and role payloads, expiring in 1 hour.
</a:t>
            </a:r>
            <a:r>
              <a:rPr lang="en-US" sz="1300" b="1" dirty="0">
                <a:solidFill>
                  <a:srgbClr val="38BDF8"/>
                </a:solidFill>
              </a:rPr>
              <a:t>• Standardized Error Handlers: </a:t>
            </a:r>
            <a:r>
              <a:rPr lang="en-US" sz="1300" dirty="0">
                <a:solidFill>
                  <a:srgbClr val="94A3B8"/>
                </a:solidFill>
              </a:rPr>
              <a:t>Generic error messages returned to prevent user enumeration attacks.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645920"/>
            <a:ext cx="5303520" cy="4389120"/>
          </a:xfrm>
          <a:prstGeom prst="roundRect">
            <a:avLst>
              <a:gd name="adj" fmla="val 2083"/>
            </a:avLst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30936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ACCESS CONTROL MODEL (RBAC)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2286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Role Segmentation &amp; Enforcement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09360" y="283464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• Employee / Standard User: </a:t>
            </a:r>
            <a:r>
              <a:rPr lang="en-US" sz="1300" dirty="0">
                <a:solidFill>
                  <a:srgbClr val="94A3B8"/>
                </a:solidFill>
              </a:rPr>
              <a:t>Can view task assignments, update task status (Pending → Completed), and access Live Chat.
</a:t>
            </a:r>
            <a:r>
              <a:rPr lang="en-US" sz="1300" b="1" dirty="0">
                <a:solidFill>
                  <a:srgbClr val="38BDF8"/>
                </a:solidFill>
              </a:rPr>
              <a:t>• Administrator Manager: </a:t>
            </a:r>
            <a:r>
              <a:rPr lang="en-US" sz="1300" dirty="0">
                <a:solidFill>
                  <a:srgbClr val="94A3B8"/>
                </a:solidFill>
              </a:rPr>
              <a:t>Exclusive permissions to create new tasks, assign priorities, and permanently delete records.
</a:t>
            </a:r>
            <a:r>
              <a:rPr lang="en-US" sz="1300" b="1" dirty="0">
                <a:solidFill>
                  <a:srgbClr val="38BDF8"/>
                </a:solidFill>
              </a:rPr>
              <a:t>• HTTP 401 &amp; 403 Enforcement: </a:t>
            </a:r>
            <a:r>
              <a:rPr lang="en-US" sz="1300" dirty="0">
                <a:solidFill>
                  <a:srgbClr val="94A3B8"/>
                </a:solidFill>
              </a:rPr>
              <a:t>401 returned for missing/expired tokens; 403 Forbidden returned for non-admin privileged actions.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</a:rPr>
              <a:t>06 | QUALITY &amp; DEVOPS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Containerization &amp; Automated Cloud Deployment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4937760" cy="2103120"/>
          </a:xfrm>
          <a:prstGeom prst="roundRect">
            <a:avLst>
              <a:gd name="adj" fmla="val 4348"/>
            </a:avLst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18288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</a:rPr>
              <a:t>DOCKER CONTAINERIZATION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node:20-alpine Micro-Images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51460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Multi-container orchestration via Docker Compose mapping port 3000 (frontend) and 5001 (backend) with bridge networking.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164592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309360" y="1828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CONTINUOUS INTEGRATION (CI)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09360" y="2103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GitHub Actions Automated Checks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09360" y="25146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Automated Ubuntu runners trigger on every git push: runs parallel 'frontend-build' (npm run build) and 'backend-check' (entry scripts).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10607040" cy="2011680"/>
          </a:xfrm>
          <a:prstGeom prst="roundRect">
            <a:avLst>
              <a:gd name="adj" fmla="val 4545"/>
            </a:avLst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4206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</a:rPr>
              <a:t>CONTINUOUS DEPLOYMENT (CD) — LIVE CLOUD INFRASTRUCTURE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4480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Zero-Downtime Multi-Cloud Delivery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48920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</a:rPr>
              <a:t>• Vercel (Frontend): </a:t>
            </a:r>
            <a:r>
              <a:rPr lang="en-US" sz="1250" dirty="0">
                <a:solidFill>
                  <a:srgbClr val="94A3B8"/>
                </a:solidFill>
              </a:rPr>
              <a:t>Directly connected to main branch. Edge-distributed SPA with instant SSL termination.
</a:t>
            </a:r>
            <a:r>
              <a:rPr lang="en-US" sz="1250" b="1" dirty="0">
                <a:solidFill>
                  <a:srgbClr val="38BDF8"/>
                </a:solidFill>
              </a:rPr>
              <a:t>• Render (Backend): </a:t>
            </a:r>
            <a:r>
              <a:rPr lang="en-US" sz="1250" dirty="0">
                <a:solidFill>
                  <a:srgbClr val="94A3B8"/>
                </a:solidFill>
              </a:rPr>
              <a:t>Deploys Express &amp; Socket.IO server from backend/ directory with live MongoDB Atlas connection.
</a:t>
            </a:r>
            <a:r>
              <a:rPr lang="en-US" sz="1250" b="1" dirty="0">
                <a:solidFill>
                  <a:srgbClr val="10B981"/>
                </a:solidFill>
              </a:rPr>
              <a:t>• Result: </a:t>
            </a:r>
            <a:r>
              <a:rPr lang="en-US" sz="1250" dirty="0">
                <a:solidFill>
                  <a:srgbClr val="94A3B8"/>
                </a:solidFill>
              </a:rPr>
              <a:t>Every validated push to GitHub instantly updates production within seconds.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</a:rPr>
              <a:t>07 | CONCLUSION &amp; 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10/10 Lab Syllabus Coverage &amp; Production Verification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4937760" cy="4389120"/>
          </a:xfrm>
          <a:prstGeom prst="roundRect">
            <a:avLst>
              <a:gd name="adj" fmla="val 2083"/>
            </a:avLst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1920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PROJECT OUTCOMES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Full Spectrum FSD Realization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✔ 10/10 Syllabus Experiments: </a:t>
            </a:r>
            <a:r>
              <a:rPr lang="en-US" sz="1300" dirty="0">
                <a:solidFill>
                  <a:srgbClr val="94A3B8"/>
                </a:solidFill>
              </a:rPr>
              <a:t>Successfully realized from basic React components to real-time WebSockets and cloud DevOps.
</a:t>
            </a:r>
            <a:r>
              <a:rPr lang="en-US" sz="1300" b="1" dirty="0">
                <a:solidFill>
                  <a:srgbClr val="38BDF8"/>
                </a:solidFill>
              </a:rPr>
              <a:t>✔ 12/12 Test Checkpoints Passed: </a:t>
            </a:r>
            <a:r>
              <a:rPr lang="en-US" sz="1300" dirty="0">
                <a:solidFill>
                  <a:srgbClr val="94A3B8"/>
                </a:solidFill>
              </a:rPr>
              <a:t>Verified across CRUD, JWT auth, RBAC guards, Docker orchestration, and multi-client real-time sync.
</a:t>
            </a:r>
            <a:r>
              <a:rPr lang="en-US" sz="1300" b="1" dirty="0">
                <a:solidFill>
                  <a:srgbClr val="38BDF8"/>
                </a:solidFill>
              </a:rPr>
              <a:t>✔ Production Hardened: </a:t>
            </a:r>
            <a:r>
              <a:rPr lang="en-US" sz="1300" dirty="0">
                <a:solidFill>
                  <a:srgbClr val="94A3B8"/>
                </a:solidFill>
              </a:rPr>
              <a:t>Active cloud URLs running with HTTPS and automated deployment pipelines.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645920"/>
            <a:ext cx="5303520" cy="4389120"/>
          </a:xfrm>
          <a:prstGeom prst="roundRect">
            <a:avLst>
              <a:gd name="adj" fmla="val 2083"/>
            </a:avLst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30936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</a:rPr>
              <a:t>LIVE PRODUCTION LINKS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2286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Ready for Live Demonstration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09360" y="283464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• GitHub Repository:
</a:t>
            </a:r>
            <a:r>
              <a:rPr lang="en-US" sz="1250" dirty="0">
                <a:solidFill>
                  <a:srgbClr val="38BDF8"/>
                </a:solidFill>
              </a:rPr>
              <a:t>https://github.com/Dhruv-Haswani/CompanyTaskManager
</a:t>
            </a:r>
            <a:r>
              <a:rPr lang="en-US" sz="1250" b="1" dirty="0">
                <a:solidFill>
                  <a:srgbClr val="FFFFFF"/>
                </a:solidFill>
              </a:rPr>
              <a:t>• Live Frontend (Vercel):
</a:t>
            </a:r>
            <a:r>
              <a:rPr lang="en-US" sz="1250" dirty="0">
                <a:solidFill>
                  <a:srgbClr val="10B981"/>
                </a:solidFill>
              </a:rPr>
              <a:t>https://company-task-manager-mu.vercel.app/
</a:t>
            </a:r>
            <a:r>
              <a:rPr lang="en-US" sz="1250" b="1" dirty="0">
                <a:solidFill>
                  <a:srgbClr val="FFFFFF"/>
                </a:solidFill>
              </a:rPr>
              <a:t>• Live Backend API (Render):
</a:t>
            </a:r>
            <a:r>
              <a:rPr lang="en-US" sz="1250" dirty="0">
                <a:solidFill>
                  <a:srgbClr val="F97316"/>
                </a:solidFill>
              </a:rPr>
              <a:t>https://company-task-backend-r41r.onrender.com/api
</a:t>
            </a:r>
            <a:r>
              <a:rPr lang="en-US" sz="1250" b="1" dirty="0">
                <a:solidFill>
                  <a:srgbClr val="FFFFFF"/>
                </a:solidFill>
              </a:rPr>
              <a:t>• Cloud Database:
</a:t>
            </a:r>
            <a:r>
              <a:rPr lang="en-US" sz="1250" dirty="0">
                <a:solidFill>
                  <a:srgbClr val="94A3B8"/>
                </a:solidFill>
              </a:rPr>
              <a:t>MongoDB Atlas (CompanyDB Replica Set)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1009</Words>
  <Application>Microsoft Office PowerPoint</Application>
  <PresentationFormat>On-screen Show (16:9)</PresentationFormat>
  <Paragraphs>94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dhruv haswani</cp:lastModifiedBy>
  <cp:revision>2</cp:revision>
  <dcterms:created xsi:type="dcterms:W3CDTF">2026-10-27T13:31:29Z</dcterms:created>
  <dcterms:modified xsi:type="dcterms:W3CDTF">2026-10-27T14:06:10Z</dcterms:modified>
</cp:coreProperties>
</file>